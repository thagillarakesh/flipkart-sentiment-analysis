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2743200"/>
          </a:xfrm>
          <a:prstGeom prst="rect">
            <a:avLst/>
          </a:prstGeom>
          <a:solidFill>
            <a:srgbClr val="052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64592" cy="2743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41C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Opinion Miner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375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1">
                <a:solidFill>
                  <a:srgbClr val="00B4D8"/>
                </a:solidFill>
              </a:rPr>
              <a:t>AI-Powered Product Review Sentiment Analyser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36208"/>
            <a:ext cx="1097280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A0C4DB"/>
                </a:solidFill>
              </a:rPr>
              <a:t>Flipkart Review Scraping  •  VADER Sentiment  •  Fake Review Detection  •  TTS Verdict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A0C4DB"/>
                </a:solidFill>
              </a:rPr>
              <a:t>PROJECT 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640080"/>
            <a:ext cx="39319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9601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D0D8E8"/>
                </a:solidFill>
              </a:rPr>
              <a:t>Department of Computer Science &amp;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258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A0C4DB"/>
                </a:solidFill>
              </a:rPr>
              <a:t>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FF9F1C"/>
                </a:solidFill>
              </a:rPr>
              <a:t>What is Opinion Miner?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600">
                <a:solidFill>
                  <a:srgbClr val="D0D8E8"/>
                </a:solidFill>
              </a:rPr>
              <a:t>●  Opinion Miner is a full-stack web application that automatically scrapes customer reviews
    from Flipkart and produces an intelligent sentiment verdict — Positive, Neutral, or Negative.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D0D8E8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D0D8E8"/>
                </a:solidFill>
              </a:rPr>
              <a:t>●  Users paste any Flipkart product URL or type their own review text; the system returns
    a detailed analysis in minutes.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D0D8E8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D0D8E8"/>
                </a:solidFill>
              </a:rPr>
              <a:t>●  The application combines Natural Language Processing (NLP), machine learning lexicons,
    rule-based fake review filtering, and interactive visualisations in a single pipeline.</a:t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D0D8E8"/>
                </a:solidFill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600">
                <a:solidFill>
                  <a:srgbClr val="D0D8E8"/>
                </a:solidFill>
              </a:rPr>
              <a:t>●  A Text-to-Speech (TTS) engine announces the final verdict aloud with a matching emoji,
    making the result instantly understandable.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11704320" y="914400"/>
            <a:ext cx="137160" cy="5486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657600" cy="3291840"/>
          </a:xfrm>
          <a:prstGeom prst="rect">
            <a:avLst/>
          </a:prstGeom>
          <a:solidFill>
            <a:srgbClr val="0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36576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😓  Information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10512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8"/>
                </a:solidFill>
              </a:rPr>
              <a:t>A popular product can have 1000+ reviews. Reading all of them
before purchasing is impractical and time-consuming.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70832" y="1097280"/>
            <a:ext cx="3657600" cy="3291840"/>
          </a:xfrm>
          <a:prstGeom prst="rect">
            <a:avLst/>
          </a:prstGeom>
          <a:solidFill>
            <a:srgbClr val="0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097280"/>
            <a:ext cx="3657600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2344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FF9F1C"/>
                </a:solidFill>
              </a:rPr>
              <a:t>🤖  Fake Reviews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1810512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8"/>
                </a:solidFill>
              </a:rPr>
              <a:t>Studies show 30-40% of online reviews are fake or incentivised.
They mislead buyers and distort product perception.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4464" y="1097280"/>
            <a:ext cx="3657600" cy="3291840"/>
          </a:xfrm>
          <a:prstGeom prst="rect">
            <a:avLst/>
          </a:prstGeom>
          <a:solidFill>
            <a:srgbClr val="0A2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84464" y="1097280"/>
            <a:ext cx="365760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21624" y="123444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 i="0">
                <a:solidFill>
                  <a:srgbClr val="2ECC71"/>
                </a:solidFill>
              </a:rPr>
              <a:t>📊  No Quick Verdict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1624" y="1810512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D8E8"/>
                </a:solidFill>
              </a:rPr>
              <a:t>Existing platforms show raw star averages but never tell you
'Should I buy this?' in plain, actionable language.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</a:rPr>
              <a:t>➤  There is a clear need for an automated, intelligent system that reads, filters,
    analyses, and summarises product reviews — delivering a trustworthy, instant verdict.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11064240" cy="36576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Existing Platforms &amp; Their Drawbacks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2514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2468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051560"/>
            <a:ext cx="406908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078992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What It Offers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051560"/>
            <a:ext cx="43434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1078992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Key Drawbacks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251460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554480"/>
            <a:ext cx="406908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98079" y="1554480"/>
            <a:ext cx="434340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00200"/>
            <a:ext cx="24688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Flipkart / Amazon
(built-in)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600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Star ratings, review listing,
helpful votes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160020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A80"/>
                </a:solidFill>
              </a:rPr>
              <a:t>No NLP analysis · No fake detection
No buy/avoid recommendation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441448"/>
            <a:ext cx="2514600" cy="804672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0" y="2441448"/>
            <a:ext cx="4069080" cy="804672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2441448"/>
            <a:ext cx="4343400" cy="804672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87168"/>
            <a:ext cx="24688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Google Reviews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48716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Aggregate star rating
for businesses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19" y="2487168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A80"/>
                </a:solidFill>
              </a:rPr>
              <a:t>No product-level analysis
No text sentiment breakdown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328415"/>
            <a:ext cx="251460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0" y="3328415"/>
            <a:ext cx="406908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3328415"/>
            <a:ext cx="434340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374135"/>
            <a:ext cx="24688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Trustpilot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374135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Verified review aggregation
for companies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3374135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A80"/>
                </a:solidFill>
              </a:rPr>
              <a:t>Not product-specific · Manual
No auto sentiment scoring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215384"/>
            <a:ext cx="2514600" cy="804672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4215384"/>
            <a:ext cx="4069080" cy="804672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79" y="4215384"/>
            <a:ext cx="4343400" cy="804672"/>
          </a:xfrm>
          <a:prstGeom prst="rect">
            <a:avLst/>
          </a:prstGeom>
          <a:solidFill>
            <a:srgbClr val="08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261104"/>
            <a:ext cx="24688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ReviewMeta /
Fakespot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261104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Fake review detection
for Amazon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4261104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A80"/>
                </a:solidFill>
              </a:rPr>
              <a:t>Amazon-only · No sentiment analysis
No visual breakdown or audio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102352"/>
            <a:ext cx="251460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0" y="5102352"/>
            <a:ext cx="406908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98079" y="5102352"/>
            <a:ext cx="4343400" cy="804672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148072"/>
            <a:ext cx="24688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SentimentR /
MonkeyLearn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91840" y="5148072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0D8E8"/>
                </a:solidFill>
              </a:rPr>
              <a:t>General sentiment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19" y="5148072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AA80"/>
                </a:solidFill>
              </a:rPr>
              <a:t>No scraping · No fake detection
Requires developer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Proposed Solution — Opinion Miner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623560" cy="150876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64008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🔍  Automated Scraping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1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Selenium scrapes up to 400+ reviews across 50 pages
from any Flipkart product URL automatically.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097280"/>
            <a:ext cx="5623560" cy="150876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097280"/>
            <a:ext cx="64008" cy="1508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🧠  VADER Sentiment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4591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VADER (Valence Aware Dictionary &amp; sEntiment Reasoner)
classifies each review as Positive / Neutral / Negative.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88920"/>
            <a:ext cx="5623560" cy="150876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788920"/>
            <a:ext cx="64008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8803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🤖  Fake Review Detector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4-rule heuristic engine flags and excludes fake reviews
before sentiment is calculated.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788920"/>
            <a:ext cx="5623560" cy="150876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788920"/>
            <a:ext cx="64008" cy="1508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88036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📊  Visual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3756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Sentiment bar chart, score distribution chart, and
Positive/Negative word clouds — all generated live.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80560"/>
            <a:ext cx="5623560" cy="150876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480560"/>
            <a:ext cx="64008" cy="1508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🔊  TTS Audio Verdict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0292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pyttsx3 speaks the final verdict aloud with a
matching emoji (😊 / 😐 / 😞).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480560"/>
            <a:ext cx="5623560" cy="150876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480560"/>
            <a:ext cx="64008" cy="1508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5720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✍️  Direct Text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02920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Users can also type any review text directly
for instant single-sentence sentiment scoring.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Technologies &amp; Models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760720" cy="17373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5760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97280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⚙️  Backend /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Python 3.12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Flask (REST API + Jinja2 templating)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BeautifulSoup4 (HTML parsing)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05840"/>
            <a:ext cx="5760720" cy="17373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76072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097280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9F1C"/>
                </a:solidFill>
              </a:rPr>
              <a:t>🌐  Web 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Selenium WebDriver (headless Chrome)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ChromeDriver (automated browser)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Smart WebDriverWait (element-aware timing)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926080"/>
            <a:ext cx="5760720" cy="17373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926080"/>
            <a:ext cx="57607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3017520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🧠  NLP &amp; ML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290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VADER — NLTK SentimentIntensityAnalyzer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  ↳ Compound score: pos ≥ 0.05 | neg ≤ −0.05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NLTK — Tokenizer, Stopword removal, WordNetLemmatizer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Custom Negation Heuristic (compound × 0.85 on negation words)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926080"/>
            <a:ext cx="5760720" cy="17373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57607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3017520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🤖  Fake Review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290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Rule 1: Length &lt; 5 words → Too short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Rule 2: Repeated words &gt; 30% → Spam pattern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Rule 3: ≥ 2 occurrences of !! or ?? → Excess punctuation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Rule 4: High star + negative sentiment → Rating mismatch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≥ 2 rules triggered → Review flagged FAKE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846320"/>
            <a:ext cx="5760720" cy="17373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846320"/>
            <a:ext cx="5760720" cy="54864"/>
          </a:xfrm>
          <a:prstGeom prst="rect">
            <a:avLst/>
          </a:prstGeom>
          <a:solidFill>
            <a:srgbClr val="A8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937760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A86CFF"/>
                </a:solidFill>
              </a:rPr>
              <a:t>📊  Visualisation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492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Matplotlib (bar charts)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WordCloud library (word clouds)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Base64 PNG encoding (embedded in JSON)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4846320"/>
            <a:ext cx="5760720" cy="17373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4846320"/>
            <a:ext cx="5760720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4937760"/>
            <a:ext cx="5577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C300"/>
                </a:solidFill>
              </a:rPr>
              <a:t>🔊  Text-to-Speech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492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pyttsx3 — offline TTS engine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Pre-generated WAV files: positive / neutral / negative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D0D8E8"/>
                </a:solidFill>
              </a:rPr>
              <a:t>HTML5 &lt;audio&gt; player with auto-play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920240"/>
            <a:ext cx="1554480" cy="109728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920240"/>
            <a:ext cx="155448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029968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User
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5146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URL or
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30428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41448" y="1920240"/>
            <a:ext cx="1554480" cy="109728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41448" y="1920240"/>
            <a:ext cx="1554480" cy="6400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2029968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9F1C"/>
                </a:solidFill>
              </a:rPr>
              <a:t>Scraper
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5146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Selenium
+BS4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30428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9976" y="1920240"/>
            <a:ext cx="1554480" cy="109728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1920240"/>
            <a:ext cx="15544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2029968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2ECC71"/>
                </a:solidFill>
              </a:rPr>
              <a:t>NLP
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25146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NLTK
Preprocess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230428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18504" y="1920240"/>
            <a:ext cx="1554480" cy="109728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18504" y="1920240"/>
            <a:ext cx="1554480" cy="64008"/>
          </a:xfrm>
          <a:prstGeom prst="rect">
            <a:avLst/>
          </a:prstGeom>
          <a:solidFill>
            <a:srgbClr val="A8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029968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A86CFF"/>
                </a:solidFill>
              </a:rPr>
              <a:t>Sentiment
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5146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VADER
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30428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7032" y="1920240"/>
            <a:ext cx="1554480" cy="109728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57032" y="1920240"/>
            <a:ext cx="155448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0184" y="2029968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6B6B"/>
                </a:solidFill>
              </a:rPr>
              <a:t>Fake
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0184" y="25146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4-Rule
Heuristic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7232" y="230428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95560" y="1920240"/>
            <a:ext cx="1554480" cy="1097280"/>
          </a:xfrm>
          <a:prstGeom prst="rect">
            <a:avLst/>
          </a:prstGeom>
          <a:solidFill>
            <a:srgbClr val="07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95560" y="1920240"/>
            <a:ext cx="1554480" cy="6400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68712" y="2029968"/>
            <a:ext cx="1463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C300"/>
                </a:solidFill>
              </a:rPr>
              <a:t>Aggregator
+UI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68712" y="2514600"/>
            <a:ext cx="14630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D0D8E8"/>
                </a:solidFill>
              </a:rPr>
              <a:t>Flask
Response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333756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Outputs: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3749039"/>
            <a:ext cx="2743200" cy="914400"/>
          </a:xfrm>
          <a:prstGeom prst="rect">
            <a:avLst/>
          </a:prstGeom>
          <a:solidFill>
            <a:srgbClr val="05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3749039"/>
            <a:ext cx="64008" cy="914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794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Sentiment Label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187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Positive / Neutral / Negative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10712" y="3749039"/>
            <a:ext cx="2743200" cy="914400"/>
          </a:xfrm>
          <a:prstGeom prst="rect">
            <a:avLst/>
          </a:prstGeom>
          <a:solidFill>
            <a:srgbClr val="05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10712" y="3749039"/>
            <a:ext cx="64008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47872" y="3794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Review Stats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7872" y="4187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Genuine · Fake · Total counts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18504" y="3749039"/>
            <a:ext cx="2743200" cy="914400"/>
          </a:xfrm>
          <a:prstGeom prst="rect">
            <a:avLst/>
          </a:prstGeom>
          <a:solidFill>
            <a:srgbClr val="05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18504" y="3749039"/>
            <a:ext cx="64008" cy="9144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5664" y="3794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Charts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4187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Bar chart + Score chart + Word clouds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26296" y="3749039"/>
            <a:ext cx="2743200" cy="914400"/>
          </a:xfrm>
          <a:prstGeom prst="rect">
            <a:avLst/>
          </a:prstGeom>
          <a:solidFill>
            <a:srgbClr val="05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26296" y="3749039"/>
            <a:ext cx="64008" cy="9144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63456" y="37947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C300"/>
                </a:solidFill>
              </a:rPr>
              <a:t>TTS Audio + Emoji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63456" y="41879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0D8E8"/>
                </a:solidFill>
              </a:rPr>
              <a:t>Spoken verdict  😊 😐 😞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4846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1">
                <a:solidFill>
                  <a:srgbClr val="A0C4DB"/>
                </a:solidFill>
              </a:rPr>
              <a:t>Flask serves the frontend (index.html). JavaScript fetches /analyze or /analyze-url via POST.
All NLP runs server-side; charts are Base64-encoded PNGs embedded in the JSON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System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3566160" cy="24231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5661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097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scraper/
flipkart_scraper.py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66420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Selenium headless Chrome driver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Handles 3 Flipkart layout variants (gMdEY7 · vQDoqR · RNW css-1jxf684)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Paginated scraping — up to 50 pages per session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Smart WebDriverWait + READ MORE expansion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Noise &amp; ad filtering; cross-page deduplication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005840"/>
            <a:ext cx="3566160" cy="24231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60520" y="1005840"/>
            <a:ext cx="35661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1097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nlp/
preprocessor.py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0248" y="166420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Lowercasing, punctuation removal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NLTK word tokenisation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Stopword removal (negations preserved: not, no, never…)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WordNet Lemmatisation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1000" y="1005840"/>
            <a:ext cx="3566160" cy="24231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005840"/>
            <a:ext cx="3566160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7" y="10972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nlp/
sentiment.py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0727" y="166420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VADER SentimentIntensityAnalyzer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Compound score → Positive (≥0.05) · Neutral · Negative (≤−0.05)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Custom negation heuristic: compound × 0.85 when negation present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3566160" cy="24231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35661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" y="3749039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nlp/
fake_detector.py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431596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Rule 1 — Too short (&lt; 5 words)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Rule 2 — Repeated words &gt; 30% of total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Rule 3 — Excess punctuation (≥2 occurrences of !! or ??)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Rule 4 — Star rating vs sentiment mismatch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≥ 2 rules triggered → FAKE (excluded from analysis)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3657600"/>
            <a:ext cx="3566160" cy="24231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60520" y="3657600"/>
            <a:ext cx="3566160" cy="54864"/>
          </a:xfrm>
          <a:prstGeom prst="rect">
            <a:avLst/>
          </a:prstGeom>
          <a:solidFill>
            <a:srgbClr val="A8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3749039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A86CFF"/>
                </a:solidFill>
              </a:rPr>
              <a:t>utils/
aggregator.py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70248" y="431596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Counts Positive / Neutral / Negative / Fake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Calculates avg compound score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Overall verdict logic: majority class wins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Generates buy/avoid action recommendation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657600"/>
            <a:ext cx="3566160" cy="242316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1000" y="3657600"/>
            <a:ext cx="3566160" cy="54864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0727" y="3749039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C300"/>
                </a:solidFill>
              </a:rPr>
              <a:t>utils/
visualizer.py  +  TTS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4315968"/>
            <a:ext cx="3383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Matplotlib sentiment bar chart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VADER score bar chart (pos · neu · neg)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WordCloud for positive &amp; negative reviews</a:t>
            </a:r>
          </a:p>
          <a:p>
            <a:pPr algn="l">
              <a:spcBef>
                <a:spcPts val="300"/>
              </a:spcBef>
            </a:pPr>
            <a:r>
              <a:rPr sz="1100">
                <a:solidFill>
                  <a:srgbClr val="D0D8E8"/>
                </a:solidFill>
              </a:rPr>
              <a:t>pyttsx3 WAV files: positive.wav · neutral.wav · negative.wav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Future Work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56692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64008" cy="1554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🤗  Transformer-Based Sentiment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1848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Replace VADER with BERT / RoBERTa fine-tuned on e-commerce reviews
for significantly higher accuracy on sarcasm and domain-specific language.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1072" y="1051560"/>
            <a:ext cx="56692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1051560"/>
            <a:ext cx="64008" cy="1554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143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🏪  Multi-Platform Scraping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161848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Extend scraper to Amazon, Meesho, Myntra, and Snapdeal
for cross-platform review aggregation and comparison.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788920"/>
            <a:ext cx="56692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788920"/>
            <a:ext cx="64008" cy="1554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🧬  ML-Based Fake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5584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Train a supervised classifier (Random Forest / XGBoost) on labelled
fake/genuine review datasets instead of hand-crafted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1072" y="2788920"/>
            <a:ext cx="56692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2788920"/>
            <a:ext cx="64008" cy="1554480"/>
          </a:xfrm>
          <a:prstGeom prst="rect">
            <a:avLst/>
          </a:prstGeom>
          <a:solidFill>
            <a:srgbClr val="A86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A86CFF"/>
                </a:solidFill>
              </a:rPr>
              <a:t>📱  Mobile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355848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Build an Android / iOS app so users can scan product QR codes
and get instant sentiment verdict on their phone.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26279"/>
            <a:ext cx="56692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526279"/>
            <a:ext cx="64008" cy="15544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61771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6B6B"/>
                </a:solidFill>
              </a:rPr>
              <a:t>🗣️  Multilingual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093207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Support Hindi, Tamil, Telugu and other regional language reviews
using multilingual NLP models (mBERT, IndicBERT).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4526279"/>
            <a:ext cx="5669280" cy="155448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91072" y="4526279"/>
            <a:ext cx="64008" cy="155448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4617719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C300"/>
                </a:solidFill>
              </a:rPr>
              <a:t>⚡  Real-Time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5093207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Package as a public REST API so third-party apps and browser
extensions can query sentiment for any product on the fly.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22960"/>
            <a:ext cx="110642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Opinion Miner successfully bridges the gap between raw customer reviews and actionable purchase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7772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✅  Automated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6459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End-to-end flow from URL input → scraping → NLP → verdict in under 5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11064240" cy="7772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0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✅  Accurate Sentiment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560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VADER with custom negation heuristic delivers reliable Positive/Neutral/Negative classification.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29000"/>
            <a:ext cx="11064240" cy="7772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474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✅  Fake Review Shield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4747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4-rule detector removes manipulative reviews before sentiment is calculated,
ensuring the verdict reflects genuine buyer experiences.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43400"/>
            <a:ext cx="11064240" cy="7772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34340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✅  Accessible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3891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Visual charts, per-review breakdown, TTS audio verdict, and emoji make
results understandable for all users — not just technical ones.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solidFill>
            <a:srgbClr val="07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257800"/>
            <a:ext cx="64008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3035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✅  Scalable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3035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D8E8"/>
                </a:solidFill>
              </a:rPr>
              <a:t>Modular architecture (scraper / nlp / utils) makes it straightforward
to add new platforms, languages, or ML models in the future.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263640"/>
            <a:ext cx="11064240" cy="4572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9F1C"/>
                </a:solidFill>
              </a:rPr>
              <a:t>Thank You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